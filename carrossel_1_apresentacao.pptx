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875520" cy="987552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960" y="1463040"/>
            <a:ext cx="8229600" cy="3840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pt-BR" sz="3800" b="1" dirty="0">
                <a:solidFill>
                  <a:srgbClr val="FFFFFF"/>
                </a:solidFill>
                <a:latin typeface="Arial"/>
                <a:cs typeface="Arial"/>
              </a:rPr>
              <a:t>Sua fazenda inteira em um lugar so. Ou ainda espalhada no caderno, na planilha e na memoria?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2960" y="5394960"/>
            <a:ext cx="822960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pt-BR" sz="2400" b="0" dirty="0">
                <a:solidFill>
                  <a:srgbClr val="738D45"/>
                </a:solidFill>
                <a:latin typeface="Arial"/>
                <a:cs typeface="Arial"/>
              </a:rPr>
              <a:t>Conheca o GestSilo</a:t>
            </a:r>
          </a:p>
        </p:txBody>
      </p:sp>
      <p:sp>
        <p:nvSpPr>
          <p:cNvPr id="4" name="Placeholder 4"/>
          <p:cNvSpPr/>
          <p:nvPr/>
        </p:nvSpPr>
        <p:spPr>
          <a:xfrm>
            <a:off x="1737360" y="6400800"/>
            <a:ext cx="6400800" cy="2377440"/>
          </a:xfrm>
          <a:prstGeom prst="rect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1737360" y="6400800"/>
            <a:ext cx="6400800" cy="23774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pt-BR" sz="1600" b="0" dirty="0">
                <a:solidFill>
                  <a:srgbClr val="FFFFFF"/>
                </a:solidFill>
                <a:latin typeface="Arial"/>
                <a:cs typeface="Arial"/>
              </a:rPr>
              <a:t>[ESPACO PARA FOTO OPCIONAL]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32320" y="9189720"/>
            <a:ext cx="23774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pt-BR" sz="1200" b="0" dirty="0">
                <a:solidFill>
                  <a:srgbClr val="FFFFFF"/>
                </a:solidFill>
                <a:latin typeface="Arial"/>
                <a:cs typeface="Arial"/>
              </a:rPr>
              <a:t>[LOGO GESTSILO]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960" y="822960"/>
            <a:ext cx="822960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pt-BR" sz="3200" b="1" dirty="0">
                <a:solidFill>
                  <a:srgbClr val="323E30"/>
                </a:solidFill>
                <a:latin typeface="Arial"/>
                <a:cs typeface="Arial"/>
              </a:rPr>
              <a:t>Voce conhece essas cenas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2960" y="2560320"/>
            <a:ext cx="8229600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pt-BR" sz="2000" b="0" dirty="0">
                <a:solidFill>
                  <a:srgbClr val="323E30"/>
                </a:solidFill>
                <a:latin typeface="Arial"/>
                <a:cs typeface="Arial"/>
              </a:rPr>
              <a:t>A silagem que acaba antes do previsto.</a:t>
            </a:r>
          </a:p>
          <a:p>
            <a:pPr algn="l">
              <a:spcBef>
                <a:spcPts val="1400"/>
              </a:spcBef>
            </a:pPr>
            <a:r>
              <a:rPr lang="pt-BR" sz="2000" b="0" dirty="0">
                <a:solidFill>
                  <a:srgbClr val="323E30"/>
                </a:solidFill>
                <a:latin typeface="Arial"/>
                <a:cs typeface="Arial"/>
              </a:rPr>
              <a:t>O custo da lavoura que ninguem soube ao certo.</a:t>
            </a:r>
          </a:p>
          <a:p>
            <a:pPr algn="l">
              <a:spcBef>
                <a:spcPts val="1400"/>
              </a:spcBef>
            </a:pPr>
            <a:r>
              <a:rPr lang="pt-BR" sz="2000" b="0" dirty="0">
                <a:solidFill>
                  <a:srgbClr val="323E30"/>
                </a:solidFill>
                <a:latin typeface="Arial"/>
                <a:cs typeface="Arial"/>
              </a:rPr>
              <a:t>O peso anotado num caderno que sumiu.</a:t>
            </a:r>
          </a:p>
          <a:p>
            <a:pPr algn="l">
              <a:spcBef>
                <a:spcPts val="1400"/>
              </a:spcBef>
            </a:pPr>
            <a:r>
              <a:rPr lang="pt-BR" sz="2000" b="0" dirty="0">
                <a:solidFill>
                  <a:srgbClr val="323E30"/>
                </a:solidFill>
                <a:latin typeface="Arial"/>
                <a:cs typeface="Arial"/>
              </a:rPr>
              <a:t>E no fim do ano, a pergunta sem resposta: deu lucro ou nao?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32320" y="9189720"/>
            <a:ext cx="23774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pt-BR" sz="1200" b="0" dirty="0">
                <a:solidFill>
                  <a:srgbClr val="323E30"/>
                </a:solidFill>
                <a:latin typeface="Arial"/>
                <a:cs typeface="Arial"/>
              </a:rPr>
              <a:t>[LOGO GESTSILO]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960" y="822960"/>
            <a:ext cx="8229600" cy="1828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Arial"/>
                <a:cs typeface="Arial"/>
              </a:rPr>
              <a:t>O problema nao e falta de trabalho. E falta de controle.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2960" y="3108960"/>
            <a:ext cx="8229600" cy="4114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pt-BR" sz="2000" b="0" dirty="0">
                <a:solidFill>
                  <a:srgbClr val="FFFFFF"/>
                </a:solidFill>
                <a:latin typeface="Arial"/>
                <a:cs typeface="Arial"/>
              </a:rPr>
              <a:t>A informacao existe - mas vive espalhada na memoria, em papeis e em planilhas que ninguem cruza.</a:t>
            </a:r>
          </a:p>
          <a:p>
            <a:pPr algn="l">
              <a:spcBef>
                <a:spcPts val="1400"/>
              </a:spcBef>
            </a:pPr>
            <a:r>
              <a:rPr lang="pt-BR" sz="2000" b="0" dirty="0">
                <a:solidFill>
                  <a:srgbClr val="FFFFFF"/>
                </a:solidFill>
                <a:latin typeface="Arial"/>
                <a:cs typeface="Arial"/>
              </a:rPr>
              <a:t>E o que nao se mede, se perde: em dinheiro, em tempo e em tranquilidade.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32320" y="9189720"/>
            <a:ext cx="23774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pt-BR" sz="1200" b="0" dirty="0">
                <a:solidFill>
                  <a:srgbClr val="FFFFFF"/>
                </a:solidFill>
                <a:latin typeface="Arial"/>
                <a:cs typeface="Arial"/>
              </a:rPr>
              <a:t>[LOGO GESTSILO]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960" y="822960"/>
            <a:ext cx="822960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pt-BR" sz="3200" b="1" dirty="0">
                <a:solidFill>
                  <a:srgbClr val="323E30"/>
                </a:solidFill>
                <a:latin typeface="Arial"/>
                <a:cs typeface="Arial"/>
              </a:rPr>
              <a:t>Tudo o que acontece dentro da porteira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2960" y="2560320"/>
            <a:ext cx="8229600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pt-BR" sz="2000" b="0" dirty="0">
                <a:solidFill>
                  <a:srgbClr val="323E30"/>
                </a:solidFill>
                <a:latin typeface="Arial"/>
                <a:cs typeface="Arial"/>
              </a:rPr>
              <a:t>Silos de silagem e estoque de volumoso</a:t>
            </a:r>
          </a:p>
          <a:p>
            <a:pPr algn="l">
              <a:spcBef>
                <a:spcPts val="1400"/>
              </a:spcBef>
            </a:pPr>
            <a:r>
              <a:rPr lang="pt-BR" sz="2000" b="0" dirty="0">
                <a:solidFill>
                  <a:srgbClr val="323E30"/>
                </a:solidFill>
                <a:latin typeface="Arial"/>
                <a:cs typeface="Arial"/>
              </a:rPr>
              <a:t>Rebanho - leite e corte</a:t>
            </a:r>
          </a:p>
          <a:p>
            <a:pPr algn="l">
              <a:spcBef>
                <a:spcPts val="1400"/>
              </a:spcBef>
            </a:pPr>
            <a:r>
              <a:rPr lang="pt-BR" sz="2000" b="0" dirty="0">
                <a:solidFill>
                  <a:srgbClr val="323E30"/>
                </a:solidFill>
                <a:latin typeface="Arial"/>
                <a:cs typeface="Arial"/>
              </a:rPr>
              <a:t>Lavouras, pastagens e custo real de cada area</a:t>
            </a:r>
          </a:p>
          <a:p>
            <a:pPr algn="l">
              <a:spcBef>
                <a:spcPts val="1400"/>
              </a:spcBef>
            </a:pPr>
            <a:r>
              <a:rPr lang="pt-BR" sz="2000" b="0" dirty="0">
                <a:solidFill>
                  <a:srgbClr val="323E30"/>
                </a:solidFill>
                <a:latin typeface="Arial"/>
                <a:cs typeface="Arial"/>
              </a:rPr>
              <a:t>Financeiro, insumos, frota e mao de obra</a:t>
            </a:r>
          </a:p>
          <a:p>
            <a:pPr algn="l">
              <a:spcBef>
                <a:spcPts val="1400"/>
              </a:spcBef>
            </a:pPr>
            <a:r>
              <a:rPr lang="pt-BR" sz="2000" b="0" dirty="0">
                <a:solidFill>
                  <a:srgbClr val="323E30"/>
                </a:solidFill>
                <a:latin typeface="Arial"/>
                <a:cs typeface="Arial"/>
              </a:rPr>
              <a:t>Balanco forrageiro e planejamento de silagem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32320" y="9189720"/>
            <a:ext cx="23774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pt-BR" sz="1200" b="0" dirty="0">
                <a:solidFill>
                  <a:srgbClr val="323E30"/>
                </a:solidFill>
                <a:latin typeface="Arial"/>
                <a:cs typeface="Arial"/>
              </a:rPr>
              <a:t>[LOGO GESTSILO]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960" y="822960"/>
            <a:ext cx="822960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Arial"/>
                <a:cs typeface="Arial"/>
              </a:rPr>
              <a:t>Feito para o campo de verdade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2960" y="2560320"/>
            <a:ext cx="822960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pt-BR" sz="2000" b="0" dirty="0">
                <a:solidFill>
                  <a:srgbClr val="FFFFFF"/>
                </a:solidFill>
                <a:latin typeface="Arial"/>
                <a:cs typeface="Arial"/>
              </a:rPr>
              <a:t>Funciona mesmo onde a internet e fraca: voce registra a retirada no silo sem sinal, e o sistema sincroniza depois.</a:t>
            </a:r>
          </a:p>
          <a:p>
            <a:pPr algn="l">
              <a:spcBef>
                <a:spcPts val="1400"/>
              </a:spcBef>
            </a:pPr>
            <a:r>
              <a:rPr lang="pt-BR" sz="2000" b="0" dirty="0">
                <a:solidFill>
                  <a:srgbClr val="FFFFFF"/>
                </a:solidFill>
                <a:latin typeface="Arial"/>
                <a:cs typeface="Arial"/>
              </a:rPr>
              <a:t>Tela legivel ao sol, operacao simples ate com luva.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32320" y="9189720"/>
            <a:ext cx="23774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pt-BR" sz="1200" b="0" dirty="0">
                <a:solidFill>
                  <a:srgbClr val="FFFFFF"/>
                </a:solidFill>
                <a:latin typeface="Arial"/>
                <a:cs typeface="Arial"/>
              </a:rPr>
              <a:t>[LOGO GESTSILO]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8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960" y="1280160"/>
            <a:ext cx="8229600" cy="1463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pt-BR" sz="4400" b="1" dirty="0">
                <a:solidFill>
                  <a:srgbClr val="FFFFFF"/>
                </a:solidFill>
                <a:latin typeface="Arial"/>
                <a:cs typeface="Arial"/>
              </a:rPr>
              <a:t>Comece de graca.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2960" y="2926080"/>
            <a:ext cx="822960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pt-BR" sz="2200" b="0" dirty="0">
                <a:solidFill>
                  <a:srgbClr val="FFFFFF"/>
                </a:solidFill>
                <a:latin typeface="Arial"/>
                <a:cs typeface="Arial"/>
              </a:rPr>
              <a:t>Plano gratuito, sem cartao de credito. O plano cresce junto com a sua fazenda.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4663440"/>
            <a:ext cx="822960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pt-BR" sz="2600" b="1" dirty="0">
                <a:solidFill>
                  <a:srgbClr val="FFFFFF"/>
                </a:solidFill>
                <a:latin typeface="Arial"/>
                <a:cs typeface="Arial"/>
              </a:rPr>
              <a:t>gestsilo.com.br</a:t>
            </a:r>
          </a:p>
        </p:txBody>
      </p:sp>
      <p:sp>
        <p:nvSpPr>
          <p:cNvPr id="5" name="Placeholder 5"/>
          <p:cNvSpPr/>
          <p:nvPr/>
        </p:nvSpPr>
        <p:spPr>
          <a:xfrm>
            <a:off x="1737360" y="6400800"/>
            <a:ext cx="6400800" cy="2377440"/>
          </a:xfrm>
          <a:prstGeom prst="rect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737360" y="6400800"/>
            <a:ext cx="6400800" cy="23774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pt-BR" sz="1600" b="0" dirty="0">
                <a:solidFill>
                  <a:srgbClr val="FFFFFF"/>
                </a:solidFill>
                <a:latin typeface="Arial"/>
                <a:cs typeface="Arial"/>
              </a:rPr>
              <a:t>[ESPACO PARA FOTO OPCIONAL]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32320" y="9189720"/>
            <a:ext cx="23774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pt-BR" sz="1200" b="0" dirty="0">
                <a:solidFill>
                  <a:srgbClr val="FFFFFF"/>
                </a:solidFill>
                <a:latin typeface="Arial"/>
                <a:cs typeface="Arial"/>
              </a:rPr>
              <a:t>[LOGO GESTSILO]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323E30"/>
      </a:dk2>
      <a:lt2>
        <a:srgbClr val="EEECE1"/>
      </a:lt2>
      <a:accent1>
        <a:srgbClr val="738D45"/>
      </a:accent1>
      <a:accent2>
        <a:srgbClr val="323E3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